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1D2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A1D2B"/>
                </a:solidFill>
                <a:latin typeface="Arial"/>
              </a:rPr>
              <a:t>연간 매출  &amp;  영업이익  (단위: 백만원)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(백만원)</c:v>
                </c:pt>
              </c:strCache>
            </c:strRef>
          </c:tx>
          <c:spPr>
            <a:solidFill>
              <a:srgbClr val="1428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D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141</c:v>
                </c:pt>
                <c:pt idx="1">
                  <c:v>438</c:v>
                </c:pt>
                <c:pt idx="2">
                  <c:v>1012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영업이익 (백만원)</c:v>
                </c:pt>
              </c:strCache>
            </c:strRef>
          </c:tx>
          <c:spPr>
            <a:solidFill>
              <a:srgbClr val="F5B7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D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</c:v>
                </c:pt>
                <c:pt idx="1">
                  <c:v>111</c:v>
                </c:pt>
                <c:pt idx="2">
                  <c:v>351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D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1D2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A1D2B"/>
                </a:solidFill>
                <a:latin typeface="Arial"/>
              </a:rPr>
              <a:t>MRR 성장 추이  (분기별, 만원)  →  3년차 2,200만원/월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월 MRR (만원)</c:v>
                </c:pt>
              </c:strCache>
            </c:strRef>
          </c:tx>
          <c:spPr>
            <a:solidFill>
              <a:srgbClr val="F5B731"/>
            </a:solidFill>
            <a:ln w="38100" cap="flat">
              <a:solidFill>
                <a:srgbClr val="F5B73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B731"/>
              </a:solidFill>
              <a:ln w="9525" cap="flat">
                <a:solidFill>
                  <a:srgbClr val="F5B73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  <c:pt idx="6">
                    <c:v>Q7</c:v>
                  </c:pt>
                  <c:pt idx="7">
                    <c:v>Q8</c:v>
                  </c:pt>
                  <c:pt idx="8">
                    <c:v>Q9</c:v>
                  </c:pt>
                  <c:pt idx="9">
                    <c:v>Q10</c:v>
                  </c:pt>
                  <c:pt idx="10">
                    <c:v>Q11</c:v>
                  </c:pt>
                  <c:pt idx="11">
                    <c:v>Q12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74</c:v>
                </c:pt>
                <c:pt idx="1">
                  <c:v>185</c:v>
                </c:pt>
                <c:pt idx="2">
                  <c:v>278</c:v>
                </c:pt>
                <c:pt idx="3">
                  <c:v>370</c:v>
                </c:pt>
                <c:pt idx="4">
                  <c:v>444</c:v>
                </c:pt>
                <c:pt idx="5">
                  <c:v>592</c:v>
                </c:pt>
                <c:pt idx="6">
                  <c:v>740</c:v>
                </c:pt>
                <c:pt idx="7">
                  <c:v>1000</c:v>
                </c:pt>
                <c:pt idx="8">
                  <c:v>1320</c:v>
                </c:pt>
                <c:pt idx="9">
                  <c:v>1672</c:v>
                </c:pt>
                <c:pt idx="10">
                  <c:v>1980</c:v>
                </c:pt>
                <c:pt idx="11">
                  <c:v>2200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-731520" y="-914400"/>
            <a:ext cx="7772400" cy="822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0" b="1" dirty="0">
                <a:solidFill>
                  <a:srgbClr val="1E35B8">
                    <a:alpha val="18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0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66928"/>
            <a:ext cx="1280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12801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428A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502920" y="1664208"/>
            <a:ext cx="1280160" cy="18288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658368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미팍</a:t>
            </a:r>
            <a:pPr indent="0" marL="0">
              <a:buNone/>
            </a:pPr>
            <a:r>
              <a:rPr lang="en-US" sz="3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Ticket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011680" y="16276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· 주차 결제 플랫폼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4592" y="2176272"/>
            <a:ext cx="6510528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31720"/>
            <a:ext cx="6080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8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주차장을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spc="-8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위한 스마트 결제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" y="4553712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기반  ·  설비 투자 0원  ·  D+1 온보딩  ·  2026–2028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592" y="5074920"/>
            <a:ext cx="6510528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523036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100사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697480" y="5422392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5285232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목표 고객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566928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10억+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697480" y="5861304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5724144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 연간 매출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108192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Q3 흑자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2697480" y="6300216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88920" y="61630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손익분기 전환점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4114800"/>
            <a:ext cx="5669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35B8">
                    <a:alpha val="25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</a:t>
            </a:r>
            <a:endParaRPr lang="en-US" sz="20000" dirty="0"/>
          </a:p>
        </p:txBody>
      </p:sp>
      <p:sp>
        <p:nvSpPr>
          <p:cNvPr id="24" name="Text 22"/>
          <p:cNvSpPr/>
          <p:nvPr/>
        </p:nvSpPr>
        <p:spPr>
          <a:xfrm>
            <a:off x="6858000" y="59436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사업계획서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858000" y="1325880"/>
            <a:ext cx="512064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0" y="1536192"/>
            <a:ext cx="54864" cy="138988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1609344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25만+</a:t>
            </a:r>
            <a:endParaRPr lang="en-US" sz="5200" dirty="0"/>
          </a:p>
        </p:txBody>
      </p:sp>
      <p:sp>
        <p:nvSpPr>
          <p:cNvPr id="28" name="Text 26"/>
          <p:cNvSpPr/>
          <p:nvPr/>
        </p:nvSpPr>
        <p:spPr>
          <a:xfrm>
            <a:off x="7059168" y="243230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국내 소규모 주차장 (50면 이하)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0" y="2980944"/>
            <a:ext cx="516636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0" y="3108960"/>
            <a:ext cx="54864" cy="138988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59168" y="3182112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475억</a:t>
            </a:r>
            <a:endParaRPr lang="en-US" sz="5200" dirty="0"/>
          </a:p>
        </p:txBody>
      </p:sp>
      <p:sp>
        <p:nvSpPr>
          <p:cNvPr id="32" name="Text 30"/>
          <p:cNvSpPr/>
          <p:nvPr/>
        </p:nvSpPr>
        <p:spPr>
          <a:xfrm>
            <a:off x="7059168" y="4005072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 누적 GMV (결제처리액)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858000" y="4553712"/>
            <a:ext cx="516636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0" y="4681728"/>
            <a:ext cx="54864" cy="138988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59168" y="4754880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30.6%</a:t>
            </a:r>
            <a:endParaRPr lang="en-US" sz="5200" dirty="0"/>
          </a:p>
        </p:txBody>
      </p:sp>
      <p:sp>
        <p:nvSpPr>
          <p:cNvPr id="36" name="Text 34"/>
          <p:cNvSpPr/>
          <p:nvPr/>
        </p:nvSpPr>
        <p:spPr>
          <a:xfrm>
            <a:off x="7059168" y="557784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 평균 영업이익률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858000" y="6510528"/>
            <a:ext cx="5166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3355"/>
                </a:solidFill>
              </a:rPr>
              <a:t>주식회사 미스터팍  |  Mr. Park Co., Ltd.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미팍 1.0 스토리  &amp;  3개년 성장 실적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686800" y="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검증된 운영 기반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-274320" y="91440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0" b="1" dirty="0">
                <a:solidFill>
                  <a:srgbClr val="1E35B8">
                    <a:alpha val="18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</a:t>
            </a:r>
            <a:endParaRPr lang="en-US" sz="33000" dirty="0"/>
          </a:p>
        </p:txBody>
      </p:sp>
      <p:sp>
        <p:nvSpPr>
          <p:cNvPr id="8" name="Shape 6"/>
          <p:cNvSpPr/>
          <p:nvPr/>
        </p:nvSpPr>
        <p:spPr>
          <a:xfrm>
            <a:off x="713232" y="1170432"/>
            <a:ext cx="36576" cy="513892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335024"/>
            <a:ext cx="329184" cy="329184"/>
          </a:xfrm>
          <a:prstGeom prst="ellipse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2618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7552" y="14996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Kings Valet 창업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7552" y="18105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프리미엄 발렛파킹 서비스 시작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인천·서울 병원·호텔 운영 노하우 축적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596896"/>
            <a:ext cx="329184" cy="329184"/>
          </a:xfrm>
          <a:prstGeom prst="ellipse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523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7614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Valetman 법인 설립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87552" y="30723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발렛·주차 운영 전문 법인화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체계적 인력 관리 시스템 구축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58768"/>
            <a:ext cx="329184" cy="32918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7856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7552" y="40233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설립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87552" y="43342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인천 자회사 설립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 주차 플랫폼 본격 개발 착수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329184" cy="32918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50474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7552" y="528523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v1.0 출시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87552" y="55961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키오스크 기반 주차 관리 시스템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특허 5건 확보 · 18명 팀 구성 완료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1078992"/>
            <a:ext cx="16459" cy="5413248"/>
          </a:xfrm>
          <a:prstGeom prst="rect">
            <a:avLst/>
          </a:prstGeom>
          <a:solidFill>
            <a:srgbClr val="2D3355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115568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 성장  실적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63640" y="1536192"/>
            <a:ext cx="566928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63640" y="1719072"/>
            <a:ext cx="54864" cy="1389888"/>
          </a:xfrm>
          <a:prstGeom prst="rect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176479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3952" y="2011680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1.8억</a:t>
            </a:r>
            <a:endParaRPr lang="en-US" sz="5800" dirty="0"/>
          </a:p>
        </p:txBody>
      </p:sp>
      <p:sp>
        <p:nvSpPr>
          <p:cNvPr id="31" name="Text 29"/>
          <p:cNvSpPr/>
          <p:nvPr/>
        </p:nvSpPr>
        <p:spPr>
          <a:xfrm>
            <a:off x="6473952" y="279806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서비스 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첫 연간 실적 기록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3640" y="3163824"/>
            <a:ext cx="5742432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3291840"/>
            <a:ext cx="54864" cy="138988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73952" y="3337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73952" y="3584448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4.7억</a:t>
            </a:r>
            <a:endParaRPr lang="en-US" sz="5800" dirty="0"/>
          </a:p>
        </p:txBody>
      </p:sp>
      <p:sp>
        <p:nvSpPr>
          <p:cNvPr id="36" name="Shape 34"/>
          <p:cNvSpPr/>
          <p:nvPr/>
        </p:nvSpPr>
        <p:spPr>
          <a:xfrm>
            <a:off x="9235440" y="3639312"/>
            <a:ext cx="1463040" cy="420624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35440" y="36393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+161%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473952" y="4370832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매장 확대 · PG 연동 고도화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전년 대비 161% 폭발 성장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63640" y="4736592"/>
            <a:ext cx="5742432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4864608"/>
            <a:ext cx="54864" cy="138988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73952" y="491032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2025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73952" y="5157216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13억</a:t>
            </a:r>
            <a:endParaRPr lang="en-US" sz="5800" dirty="0"/>
          </a:p>
        </p:txBody>
      </p:sp>
      <p:sp>
        <p:nvSpPr>
          <p:cNvPr id="43" name="Shape 41"/>
          <p:cNvSpPr/>
          <p:nvPr/>
        </p:nvSpPr>
        <p:spPr>
          <a:xfrm>
            <a:off x="9235440" y="5212080"/>
            <a:ext cx="1463040" cy="42062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35440" y="52120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+177%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73952" y="5943600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전환 준비 · 특허 5건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 누적 성장률 622%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63640" y="6446520"/>
            <a:ext cx="5742432" cy="2743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6446520"/>
            <a:ext cx="5559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 누적 성장  1.8억 → 13억  ·  622% 성장  ·  특허 5건 확보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왜 1.0에서 2.0으로?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한계  →  SaaS 성장성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1005840"/>
            <a:ext cx="5806440" cy="585216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-182880" y="13716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0" b="1" dirty="0">
                <a:solidFill>
                  <a:srgbClr val="1E35B8">
                    <a:alpha val="16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</a:t>
            </a:r>
            <a:endParaRPr lang="en-US" sz="26000" dirty="0"/>
          </a:p>
        </p:txBody>
      </p:sp>
      <p:sp>
        <p:nvSpPr>
          <p:cNvPr id="9" name="Shape 7"/>
          <p:cNvSpPr/>
          <p:nvPr/>
        </p:nvSpPr>
        <p:spPr>
          <a:xfrm>
            <a:off x="347472" y="1170432"/>
            <a:ext cx="20116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1704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1.0  키오스크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7472" y="1600200"/>
            <a:ext cx="5257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구조적 한계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" y="2121408"/>
            <a:ext cx="52578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31343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💴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" y="2304288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고정비 부담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1248" y="2615184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하드웨어 1대 300~500만원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유지보수 · AS · 소모품 지속 발생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ROI 회수 기간 12개월 이상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7472" y="3300984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" y="3291840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의존성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" y="3602736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설치·교체에 현장 방문 필수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원격 업데이트 제한 · 장애 대응 지연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1개소당 1개 장비 = 선형 비용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7472" y="4288536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1248" y="4279392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스케일링 한계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590288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100개사 → 하드웨어 100대 필요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인력 비례 증가 · 마진 정체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데이터 통합 어려움 · 대시보드 부재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7472" y="5276088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" y="5266944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록인 구조 부재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" y="5577840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교체 시 이탈 가능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재구매 주기 3~5년 · 이탈률 높음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생애가치(LTV) 낮음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06440" y="1005840"/>
            <a:ext cx="457200" cy="58521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87568" y="352044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6263640" y="1005840"/>
            <a:ext cx="5897880" cy="5852160"/>
          </a:xfrm>
          <a:prstGeom prst="rect">
            <a:avLst/>
          </a:prstGeom>
          <a:solidFill>
            <a:srgbClr val="F8F9FD"/>
          </a:solidFill>
          <a:ln w="12700">
            <a:solidFill>
              <a:srgbClr val="F8F9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13716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0" b="1" dirty="0">
                <a:solidFill>
                  <a:srgbClr val="F5B731">
                    <a:alpha val="1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2.0</a:t>
            </a:r>
            <a:endParaRPr lang="en-US" sz="26000" dirty="0"/>
          </a:p>
        </p:txBody>
      </p:sp>
      <p:sp>
        <p:nvSpPr>
          <p:cNvPr id="29" name="Shape 27"/>
          <p:cNvSpPr/>
          <p:nvPr/>
        </p:nvSpPr>
        <p:spPr>
          <a:xfrm>
            <a:off x="6446520" y="1170432"/>
            <a:ext cx="2286000" cy="32918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1704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2.0  미팍티켓  SaaS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46520" y="1600200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8A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성장성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46520" y="2121408"/>
            <a:ext cx="539496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46520" y="2267712"/>
            <a:ext cx="45720" cy="84124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65392" y="23134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022592" y="2304288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투자 0원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22592" y="2615184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 + QR = 즉시 운영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없음 · 설치 없음 · D+1 시작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진입 장벽 완전 제거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46520" y="3255264"/>
            <a:ext cx="45720" cy="84124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65392" y="3300984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022592" y="3291840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수평적 확장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022592" y="3602736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100 → 1,000개사, 코드 한 줄 변경 없음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인력 고정 · 마진 급증 구조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클라우드 SaaS = 한계비용 0에 수렴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46520" y="4242816"/>
            <a:ext cx="45720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65392" y="4288536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022592" y="4279392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구독 + 수수료 이중 수익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022592" y="4590288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월정액 MRR + 결제 GMV 수수료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매출 성장 = 미팍 수익 자동 증가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2% 이하 목표 · 높은 LTV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46520" y="5230368"/>
            <a:ext cx="45720" cy="8412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65392" y="52760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7022592" y="5266944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데이터 기반 성장 엔진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22592" y="5577840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 고객 매출·이용률·피크 데이터 통합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산업 벤치마크 · 크로스셀 기회 발굴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AI 요금 최적화 등 부가기능 확장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0" y="6473952"/>
            <a:ext cx="12161520" cy="29260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7472" y="64739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  :  하드웨어 100대 필요  /  마진 정체  /  이탈 용이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806440" y="647395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731"/>
                </a:solidFill>
              </a:rPr>
              <a:t>→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382512" y="6473952"/>
            <a:ext cx="5614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2.0  :  고객 무한 추가  /  마진 지속 개선  /  높은 LTV  ·  낮은 이탈률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문제 정의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현장이 겪는 3가지 구조적 문제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DC2626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70%</a:t>
            </a:r>
            <a:endParaRPr lang="en-US" sz="14500" dirty="0"/>
          </a:p>
        </p:txBody>
      </p:sp>
      <p:sp>
        <p:nvSpPr>
          <p:cNvPr id="8" name="Shape 6"/>
          <p:cNvSpPr/>
          <p:nvPr/>
        </p:nvSpPr>
        <p:spPr>
          <a:xfrm>
            <a:off x="384048" y="1097280"/>
            <a:ext cx="356616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70%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384048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현금·수기 정산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84048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주차장의 70%가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아직 현금 정산 운영 중.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오류·분쟁·투명성 부재.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51376" y="1005840"/>
            <a:ext cx="0" cy="5349240"/>
          </a:xfrm>
          <a:prstGeom prst="line">
            <a:avLst/>
          </a:prstGeom>
          <a:noFill/>
          <a:ln w="12700">
            <a:solidFill>
              <a:srgbClr val="DDE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EA580C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0원</a:t>
            </a:r>
            <a:endParaRPr lang="en-US" sz="14500" dirty="0"/>
          </a:p>
        </p:txBody>
      </p:sp>
      <p:sp>
        <p:nvSpPr>
          <p:cNvPr id="15" name="Shape 13"/>
          <p:cNvSpPr/>
          <p:nvPr/>
        </p:nvSpPr>
        <p:spPr>
          <a:xfrm>
            <a:off x="4297680" y="1097280"/>
            <a:ext cx="356616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0원</a:t>
            </a:r>
            <a:endParaRPr lang="en-US" sz="8000" dirty="0"/>
          </a:p>
        </p:txBody>
      </p:sp>
      <p:sp>
        <p:nvSpPr>
          <p:cNvPr id="17" name="Text 15"/>
          <p:cNvSpPr/>
          <p:nvPr/>
        </p:nvSpPr>
        <p:spPr>
          <a:xfrm>
            <a:off x="4297680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도입 불가 솔루션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97680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시스템은 게이트·리더기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필수 구매. 50면 이하에게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현실적으로 투자 불가.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65008" y="1005840"/>
            <a:ext cx="0" cy="5349240"/>
          </a:xfrm>
          <a:prstGeom prst="line">
            <a:avLst/>
          </a:prstGeom>
          <a:noFill/>
          <a:ln w="12700">
            <a:solidFill>
              <a:srgbClr val="DDE3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74152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7C3AED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0개</a:t>
            </a:r>
            <a:endParaRPr lang="en-US" sz="14500" dirty="0"/>
          </a:p>
        </p:txBody>
      </p:sp>
      <p:sp>
        <p:nvSpPr>
          <p:cNvPr id="22" name="Shape 20"/>
          <p:cNvSpPr/>
          <p:nvPr/>
        </p:nvSpPr>
        <p:spPr>
          <a:xfrm>
            <a:off x="8211312" y="1097280"/>
            <a:ext cx="356616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1312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0개</a:t>
            </a:r>
            <a:endParaRPr lang="en-US" sz="8000" dirty="0"/>
          </a:p>
        </p:txBody>
      </p:sp>
      <p:sp>
        <p:nvSpPr>
          <p:cNvPr id="24" name="Text 22"/>
          <p:cNvSpPr/>
          <p:nvPr/>
        </p:nvSpPr>
        <p:spPr>
          <a:xfrm>
            <a:off x="8211312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데이터 없음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211312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1312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매출·이용률·피크타임을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파악할 수단 없음. 감에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의존한 비효율 운영 지속.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5321808"/>
            <a:ext cx="12161520" cy="129844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321808"/>
            <a:ext cx="12161520" cy="5486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541324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시장 기회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404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25만+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38404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17296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1012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0.5%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31012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현재 SaaS 보급률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9904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3620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56억원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623620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목표 GMV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2512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6228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블루오션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916228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시장 선점 기회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서비스 개요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0" y="0"/>
            <a:ext cx="6080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스캔 한 번 — 입차부터 정산까지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" y="2148840"/>
            <a:ext cx="11393424" cy="36576"/>
          </a:xfrm>
          <a:prstGeom prst="rect">
            <a:avLst/>
          </a:prstGeom>
          <a:solidFill>
            <a:srgbClr val="5A6490"/>
          </a:solidFill>
          <a:ln w="12700">
            <a:solidFill>
              <a:srgbClr val="5A6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00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입차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스캔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번호판 입력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8736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주차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26440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시간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측정·기록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6772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6772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4476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결제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14476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통합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간편결제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848088" y="1938528"/>
            <a:ext cx="420624" cy="420624"/>
          </a:xfrm>
          <a:prstGeom prst="ellipse">
            <a:avLst/>
          </a:prstGeom>
          <a:solidFill>
            <a:srgbClr val="F5B731"/>
          </a:solidFill>
          <a:ln w="19050">
            <a:solidFill>
              <a:srgbClr val="F5B7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480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02512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02512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리포트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4048" y="3337560"/>
            <a:ext cx="11393424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3456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핵심 기능  6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048" y="3840480"/>
            <a:ext cx="54864" cy="102412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9080"/>
            <a:ext cx="457200" cy="4572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13385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발권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13385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설비 없이 QR만으로 즉시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입차권 발행. 종이·앱 불필요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315968" y="3840480"/>
            <a:ext cx="54864" cy="102412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457200" cy="45720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06577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통합 결제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506577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카드·카카오·네이버·토스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PCI-DSS 준수 원클릭 결제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8247888" y="3840480"/>
            <a:ext cx="54864" cy="102412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069080"/>
            <a:ext cx="457200" cy="45720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899769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 대시보드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899769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매출·이용률·피크 분석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스마트폰으로 언제 어디서나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384048" y="5074920"/>
            <a:ext cx="54864" cy="10241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03520"/>
            <a:ext cx="457200" cy="45720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113385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관리</a:t>
            </a:r>
            <a:endParaRPr lang="en-US" sz="1400" dirty="0"/>
          </a:p>
        </p:txBody>
      </p:sp>
      <p:sp>
        <p:nvSpPr>
          <p:cNvPr id="41" name="Text 35"/>
          <p:cNvSpPr/>
          <p:nvPr/>
        </p:nvSpPr>
        <p:spPr>
          <a:xfrm>
            <a:off x="113385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월·주 자동 갱신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기업 단체권·할인 쿠폰 연동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315968" y="5074920"/>
            <a:ext cx="54864" cy="10241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5303520"/>
            <a:ext cx="457200" cy="45720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506577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보안·세무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506577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거래내역 자동 보관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세금계산서 자동 발행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8247888" y="5074920"/>
            <a:ext cx="54864" cy="10241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5303520"/>
            <a:ext cx="457200" cy="45720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899769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D+1 온보딩</a:t>
            </a:r>
            <a:endParaRPr lang="en-US" sz="1400" dirty="0"/>
          </a:p>
        </p:txBody>
      </p:sp>
      <p:sp>
        <p:nvSpPr>
          <p:cNvPr id="49" name="Text 41"/>
          <p:cNvSpPr/>
          <p:nvPr/>
        </p:nvSpPr>
        <p:spPr>
          <a:xfrm>
            <a:off x="899769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다음날 운영 시작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CS 원격 세팅 지원</a:t>
            </a:r>
            <a:endParaRPr lang="en-US" sz="1050" dirty="0"/>
          </a:p>
        </p:txBody>
      </p:sp>
      <p:sp>
        <p:nvSpPr>
          <p:cNvPr id="50" name="Text 42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핵심 세일즈 포인트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8308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F5B731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4000" dirty="0"/>
          </a:p>
        </p:txBody>
      </p:sp>
      <p:sp>
        <p:nvSpPr>
          <p:cNvPr id="8" name="Shape 6"/>
          <p:cNvSpPr/>
          <p:nvPr/>
        </p:nvSpPr>
        <p:spPr>
          <a:xfrm>
            <a:off x="320040" y="1115568"/>
            <a:ext cx="3822192" cy="5486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120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설비 투자 ZERO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 + QR = 완성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120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게이트·리더기 불필요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폰으로 즉시 운영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도입비 0원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0F9ED5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4000" dirty="0"/>
          </a:p>
        </p:txBody>
      </p:sp>
      <p:sp>
        <p:nvSpPr>
          <p:cNvPr id="16" name="Shape 14"/>
          <p:cNvSpPr/>
          <p:nvPr/>
        </p:nvSpPr>
        <p:spPr>
          <a:xfrm>
            <a:off x="4251960" y="1115568"/>
            <a:ext cx="3822192" cy="54864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5312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D+1 온보딩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5312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다음날 운영 시작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5312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→ QR배포 → 운영 1~2일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CS 원격 세팅 지원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교육 영상·매뉴얼 제공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8388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4692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16A34A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4000" dirty="0"/>
          </a:p>
        </p:txBody>
      </p:sp>
      <p:sp>
        <p:nvSpPr>
          <p:cNvPr id="24" name="Shape 22"/>
          <p:cNvSpPr/>
          <p:nvPr/>
        </p:nvSpPr>
        <p:spPr>
          <a:xfrm>
            <a:off x="8183880" y="1115568"/>
            <a:ext cx="3822192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504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8504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 투명화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8504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숫자가 신뢰를 만든다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38504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8504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 매출·이용률 대시보드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세금계산서·정산 보고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주차장주 신뢰 즉시 확보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8308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818CF8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4000" dirty="0"/>
          </a:p>
        </p:txBody>
      </p:sp>
      <p:sp>
        <p:nvSpPr>
          <p:cNvPr id="32" name="Shape 30"/>
          <p:cNvSpPr/>
          <p:nvPr/>
        </p:nvSpPr>
        <p:spPr>
          <a:xfrm>
            <a:off x="320040" y="3840480"/>
            <a:ext cx="3822192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120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120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수익 공유 모델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2120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 느는 만큼 함께 성장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120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월정액 + 결제 수수료 구조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매출↑ = 미팍 수익↑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이해관계 완전 일치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25196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1500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EA580C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4000" dirty="0"/>
          </a:p>
        </p:txBody>
      </p:sp>
      <p:sp>
        <p:nvSpPr>
          <p:cNvPr id="40" name="Shape 38"/>
          <p:cNvSpPr/>
          <p:nvPr/>
        </p:nvSpPr>
        <p:spPr>
          <a:xfrm>
            <a:off x="4251960" y="3840480"/>
            <a:ext cx="3822192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5312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45312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록인 구조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45312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한 번 쓰면 계속 쓴다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5312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5312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고객 데이터 누적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2% 이하 목표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양방향 앱 생태계 구축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18388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4692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7C3AED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4000" dirty="0"/>
          </a:p>
        </p:txBody>
      </p:sp>
      <p:sp>
        <p:nvSpPr>
          <p:cNvPr id="48" name="Shape 46"/>
          <p:cNvSpPr/>
          <p:nvPr/>
        </p:nvSpPr>
        <p:spPr>
          <a:xfrm>
            <a:off x="8183880" y="3840480"/>
            <a:ext cx="382219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8504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8504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확장성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38504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프랜차이즈·API 연동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8504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8504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API·화이트라벨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멀티 주차장 통합 관리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대형 체인 체계적 공략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요금제 구조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Pricing Tiers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61872"/>
            <a:ext cx="54864" cy="50657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16A34A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19900</a:t>
            </a:r>
            <a:endParaRPr lang="en-US" sz="10000" dirty="0"/>
          </a:p>
        </p:txBody>
      </p:sp>
      <p:sp>
        <p:nvSpPr>
          <p:cNvPr id="10" name="Shape 8"/>
          <p:cNvSpPr/>
          <p:nvPr/>
        </p:nvSpPr>
        <p:spPr>
          <a:xfrm>
            <a:off x="411480" y="1463040"/>
            <a:ext cx="2514600" cy="274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무료 체험 후 전환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Starter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19,900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1148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3.5%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QR 발권 기본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결제 이력 조회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기본 CS 지원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1261872"/>
            <a:ext cx="54864" cy="5065776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0F9ED5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39900</a:t>
            </a:r>
            <a:endParaRPr lang="en-US" sz="10000" dirty="0"/>
          </a:p>
        </p:txBody>
      </p:sp>
      <p:sp>
        <p:nvSpPr>
          <p:cNvPr id="22" name="Shape 20"/>
          <p:cNvSpPr/>
          <p:nvPr/>
        </p:nvSpPr>
        <p:spPr>
          <a:xfrm>
            <a:off x="3337560" y="1463040"/>
            <a:ext cx="2514600" cy="27432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가장 인기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Basic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333756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39,900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33756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3.3%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33756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Starter 전체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정기권 관리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8328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매출 대시보드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83280" y="49103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이메일 알림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26480" y="1078992"/>
            <a:ext cx="2788920" cy="5321808"/>
          </a:xfrm>
          <a:prstGeom prst="rect">
            <a:avLst/>
          </a:prstGeom>
          <a:solidFill>
            <a:srgbClr val="1428A0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1078992"/>
            <a:ext cx="2788920" cy="7315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1152144"/>
            <a:ext cx="54864" cy="524865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153619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5B731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69900</a:t>
            </a:r>
            <a:endParaRPr lang="en-US" sz="10000" dirty="0"/>
          </a:p>
        </p:txBody>
      </p:sp>
      <p:sp>
        <p:nvSpPr>
          <p:cNvPr id="36" name="Shape 34"/>
          <p:cNvSpPr/>
          <p:nvPr/>
        </p:nvSpPr>
        <p:spPr>
          <a:xfrm>
            <a:off x="6263640" y="1280160"/>
            <a:ext cx="2514600" cy="2743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1280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48"/>
                </a:solidFill>
              </a:rPr>
              <a:t>추천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63640" y="167335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6263640" y="217627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69,900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263640" y="26517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3.0%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63640" y="298094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313639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Basic 전체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36667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멀티 주차장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09360" y="419709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쿠폰·할인 관리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472744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고급 분석 리포트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309360" y="5257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우선 CS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05256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052560" y="1261872"/>
            <a:ext cx="54864" cy="5065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6968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7C3AED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∞</a:t>
            </a:r>
            <a:endParaRPr lang="en-US" sz="10000" dirty="0"/>
          </a:p>
        </p:txBody>
      </p:sp>
      <p:sp>
        <p:nvSpPr>
          <p:cNvPr id="50" name="Shape 48"/>
          <p:cNvSpPr/>
          <p:nvPr/>
        </p:nvSpPr>
        <p:spPr>
          <a:xfrm>
            <a:off x="9189720" y="1463040"/>
            <a:ext cx="2514600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18972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대형·프랜차이즈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918972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918972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협의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918972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2.8% 협의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18972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3544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Pro 전체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3544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API·화이트라벨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23544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SLA 보장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35440" y="49103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전담 매니저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235440" y="54406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맞춤 개발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537960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33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※ 수수료 = PG 원가(2.0%) 차감 후 미팍 수취분  ·  1년차 티어 믹스 가정: Starter 30% / Basic 40% / Pro 20% / Enterprise 10%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재무 계획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4048" y="1170432"/>
            <a:ext cx="54864" cy="150876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24358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151790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100사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94360" y="217627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359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1.4억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892808" y="217627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92808" y="2359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2,453만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191256" y="217627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191256" y="2359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17.4%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84048" y="2743200"/>
            <a:ext cx="393192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2907792"/>
            <a:ext cx="54864" cy="1508760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98094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35B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325526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250사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594360" y="391363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4360" y="409651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4.4억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892808" y="391363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892808" y="409651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1.1억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91256" y="391363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191256" y="409651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25.4%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84048" y="4480560"/>
            <a:ext cx="393192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4645152"/>
            <a:ext cx="54864" cy="15087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471830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" y="499262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500사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594360" y="565099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94360" y="583387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10.1억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892808" y="565099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892808" y="583387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3.5억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191256" y="565099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191256" y="583387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34.6%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84048" y="6309360"/>
            <a:ext cx="3931920" cy="2286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" y="63093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손익분기점  Q3  (1년차 7~8개월)</a:t>
            </a:r>
            <a:endParaRPr lang="en-US" sz="95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754880" y="1078992"/>
          <a:ext cx="7132320" cy="26334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Shape 37"/>
          <p:cNvSpPr/>
          <p:nvPr/>
        </p:nvSpPr>
        <p:spPr>
          <a:xfrm>
            <a:off x="4754880" y="3840480"/>
            <a:ext cx="713232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graphicFrame>
        <p:nvGraphicFramePr>
          <p:cNvPr id="41" name="Chart 1" descr=""/>
          <p:cNvGraphicFramePr/>
          <p:nvPr/>
        </p:nvGraphicFramePr>
        <p:xfrm>
          <a:off x="4754880" y="3913632"/>
          <a:ext cx="7132320" cy="2542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2" name="Text 38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실행 로드맵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  →  2027  →  2028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4592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0F9ED5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</a:t>
            </a:r>
            <a:endParaRPr lang="en-US" sz="16500" dirty="0"/>
          </a:p>
        </p:txBody>
      </p:sp>
      <p:sp>
        <p:nvSpPr>
          <p:cNvPr id="8" name="Shape 6"/>
          <p:cNvSpPr/>
          <p:nvPr/>
        </p:nvSpPr>
        <p:spPr>
          <a:xfrm>
            <a:off x="347472" y="1078992"/>
            <a:ext cx="3749040" cy="65836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 2026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27432" cy="440740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" y="2011680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발권 v1.0 출시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30352" y="2816352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파일럿 20개사 → 100개사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30352" y="3621024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3사 연동 완료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30352" y="4425696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미스터팍 시스템 연동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30352" y="5230368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Q3 영업이익 흑자 전환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187952" y="1078992"/>
            <a:ext cx="0" cy="5248656"/>
          </a:xfrm>
          <a:prstGeom prst="line">
            <a:avLst/>
          </a:prstGeom>
          <a:noFill/>
          <a:ln w="15240">
            <a:solidFill>
              <a:srgbClr val="DDE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1E35B8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2027</a:t>
            </a:r>
            <a:endParaRPr lang="en-US" sz="16500" dirty="0"/>
          </a:p>
        </p:txBody>
      </p:sp>
      <p:sp>
        <p:nvSpPr>
          <p:cNvPr id="23" name="Shape 21"/>
          <p:cNvSpPr/>
          <p:nvPr/>
        </p:nvSpPr>
        <p:spPr>
          <a:xfrm>
            <a:off x="4297680" y="1078992"/>
            <a:ext cx="3749040" cy="65836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62272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2년차  2027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590288" y="1737360"/>
            <a:ext cx="27432" cy="440740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0560" y="2011680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고도화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480560" y="2816352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250개사 달성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480560" y="3621024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인력 1명 추가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480560" y="4425696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64608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대시보드 v2.0 출시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80560" y="5230368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 1.1억 달성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138160" y="1078992"/>
            <a:ext cx="0" cy="5248656"/>
          </a:xfrm>
          <a:prstGeom prst="line">
            <a:avLst/>
          </a:prstGeom>
          <a:noFill/>
          <a:ln w="15240">
            <a:solidFill>
              <a:srgbClr val="DDE3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65008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F5B731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2028</a:t>
            </a:r>
            <a:endParaRPr lang="en-US" sz="16500" dirty="0"/>
          </a:p>
        </p:txBody>
      </p:sp>
      <p:sp>
        <p:nvSpPr>
          <p:cNvPr id="38" name="Shape 36"/>
          <p:cNvSpPr/>
          <p:nvPr/>
        </p:nvSpPr>
        <p:spPr>
          <a:xfrm>
            <a:off x="8247888" y="1078992"/>
            <a:ext cx="3749040" cy="65836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  2028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8540496" y="1737360"/>
            <a:ext cx="27432" cy="440740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30768" y="2011680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14816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API 런칭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430768" y="2816352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14816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500개사 달성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8430768" y="3621024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814816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MRR 2,200만원/월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8430768" y="4425696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814816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프랜차이즈 체인 공략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430768" y="5230368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14816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영업이익률 34.6% 달성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47472" y="6108192"/>
            <a:ext cx="11475720" cy="59436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47472" y="6108192"/>
            <a:ext cx="11475720" cy="3657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0352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목표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30352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≤ 2%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3438144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Basic+ 비율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438144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85%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345936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비율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345936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20%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253728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최종 MRR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9253728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2,200만/월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0" y="-1645920"/>
            <a:ext cx="8229600" cy="9601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0" b="1" dirty="0">
                <a:solidFill>
                  <a:srgbClr val="1E35B8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왜 미팍티켓인가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6868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3749040" cy="4572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검증된 운영 기반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14억 매출 실운영 노하우  ·  특허 5건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207008"/>
            <a:ext cx="3749040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완벽한 시장 타이밍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8912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디지털 전환 초기  ·  경쟁자 없는 선점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1207008"/>
            <a:ext cx="37490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확장성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2104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코드 없이 고객 추가  ·  100→1,000개사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176272"/>
            <a:ext cx="114300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331720"/>
            <a:ext cx="114300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미팍티켓은 단순한 주차 결제 앱이 아닙니다.</a:t>
            </a:r>
            <a:endParaRPr lang="en-US" sz="17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 생태계를 디지털로 전환하는 SaaS 플랫폼입니다.</a:t>
            </a:r>
            <a:endParaRPr lang="en-US" sz="17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미스터팍의 검증된 운영 기반 위에, 국내 25만 소규모 주차장 시장을 선점할 준비가 완료되었습니다.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114300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617720"/>
            <a:ext cx="11539728" cy="120700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4617720"/>
            <a:ext cx="91440" cy="120700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46634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지금 시작할 준비가 되어 있습니다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13232" y="5212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목표  :  500개사  ·  영업이익 3.5억  ·  MRR 2,200만원  ·  GMV 475억원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5468112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A6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mepark1022@gmail.com  ·  www.mepark.kr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565392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33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|  Mr. Park Co., Ltd.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미팍티켓 사업계획서 2026–2028</dc:title>
  <dc:subject>PptxGenJS Presentation</dc:subject>
  <dc:creator>주식회사 미스터팍</dc:creator>
  <cp:lastModifiedBy>주식회사 미스터팍</cp:lastModifiedBy>
  <cp:revision>1</cp:revision>
  <dcterms:created xsi:type="dcterms:W3CDTF">2026-02-21T15:54:57Z</dcterms:created>
  <dcterms:modified xsi:type="dcterms:W3CDTF">2026-02-21T15:54:57Z</dcterms:modified>
</cp:coreProperties>
</file>