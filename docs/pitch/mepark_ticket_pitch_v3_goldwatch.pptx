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A1D2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A1D2B"/>
                </a:solidFill>
                <a:latin typeface="Arial"/>
              </a:rPr>
              <a:t>매출  vs  영업이익 (백만원)  ·  알림톡 수익화 반영  ·  3년차 50.2% 이익률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(백만원)</c:v>
                </c:pt>
              </c:strCache>
            </c:strRef>
          </c:tx>
          <c:spPr>
            <a:solidFill>
              <a:srgbClr val="1428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</c:v>
                </c:pt>
                <c:pt idx="1">
                  <c:v>440</c:v>
                </c:pt>
                <c:pt idx="2">
                  <c:v>1010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 (백만원)</c:v>
                </c:pt>
              </c:strCache>
            </c:strRef>
          </c:tx>
          <c:spPr>
            <a:solidFill>
              <a:srgbClr val="F5B7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</c:v>
                </c:pt>
                <c:pt idx="1">
                  <c:v>187</c:v>
                </c:pt>
                <c:pt idx="2">
                  <c:v>507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D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-731520" y="-914400"/>
            <a:ext cx="7772400" cy="822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66928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12801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1280160" cy="18288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658368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미팍</a:t>
            </a:r>
            <a:pPr indent="0" marL="0">
              <a:buNone/>
            </a:pPr>
            <a:r>
              <a:rPr lang="en-US" sz="3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Ticket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011680" y="16276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· 주차 결제 플랫폼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4592" y="2176272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6080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주차장을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위한 스마트 결제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45537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기반  ·  설비 투자 0원  ·  D+1 온보딩  ·  2026–2028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" y="5074920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23036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697480" y="5422392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528523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고객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66928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10억+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697480" y="5861304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572414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연간 매출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108192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흑자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2697480" y="6300216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88920" y="61630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손익분기 전환점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411480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35B8">
                    <a:alpha val="25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20000" dirty="0"/>
          </a:p>
        </p:txBody>
      </p:sp>
      <p:sp>
        <p:nvSpPr>
          <p:cNvPr id="24" name="Text 22"/>
          <p:cNvSpPr/>
          <p:nvPr/>
        </p:nvSpPr>
        <p:spPr>
          <a:xfrm>
            <a:off x="6858000" y="5943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사업계획서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858000" y="1325880"/>
            <a:ext cx="512064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1536192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1609344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5200" dirty="0"/>
          </a:p>
        </p:txBody>
      </p:sp>
      <p:sp>
        <p:nvSpPr>
          <p:cNvPr id="28" name="Text 26"/>
          <p:cNvSpPr/>
          <p:nvPr/>
        </p:nvSpPr>
        <p:spPr>
          <a:xfrm>
            <a:off x="7059168" y="243230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국내 소규모 주차장 (50면 이하)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2980944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3108960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3182112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475억</a:t>
            </a:r>
            <a:endParaRPr lang="en-US" sz="5200" dirty="0"/>
          </a:p>
        </p:txBody>
      </p:sp>
      <p:sp>
        <p:nvSpPr>
          <p:cNvPr id="32" name="Text 30"/>
          <p:cNvSpPr/>
          <p:nvPr/>
        </p:nvSpPr>
        <p:spPr>
          <a:xfrm>
            <a:off x="7059168" y="4005072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누적 GMV (결제처리액)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58000" y="4553712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4681728"/>
            <a:ext cx="54864" cy="13898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9168" y="4754880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30.6%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7059168" y="557784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평균 영업이익률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858000" y="6510528"/>
            <a:ext cx="5166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 1.0 스토리  &amp;  3개년 성장 실적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-274320" y="91440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33000" dirty="0"/>
          </a:p>
        </p:txBody>
      </p:sp>
      <p:sp>
        <p:nvSpPr>
          <p:cNvPr id="8" name="Shape 6"/>
          <p:cNvSpPr/>
          <p:nvPr/>
        </p:nvSpPr>
        <p:spPr>
          <a:xfrm>
            <a:off x="713232" y="1170432"/>
            <a:ext cx="36576" cy="51389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335024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2618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14996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Kings Valet 창업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18105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프리미엄 발렛파킹 서비스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인천·서울 병원·호텔 운영 노하우 축적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596896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523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7614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Valetman 법인 설립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87552" y="30723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발렛·주차 운영 전문 법인화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체계적 인력 관리 시스템 구축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58768"/>
            <a:ext cx="329184" cy="32918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7856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40233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설립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87552" y="43342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 자회사 설립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 주차 플랫폼 본격 개발 착수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329184" cy="32918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50474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" y="52852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v1.0 출시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7552" y="55961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키오스크 기반 주차 관리 시스템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특허 5건 확보 · 18명 팀 구성 완료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1078992"/>
            <a:ext cx="16459" cy="5413248"/>
          </a:xfrm>
          <a:prstGeom prst="rect">
            <a:avLst/>
          </a:prstGeom>
          <a:solidFill>
            <a:srgbClr val="2D3355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115568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 성장  실적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63640" y="1536192"/>
            <a:ext cx="566928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1719072"/>
            <a:ext cx="54864" cy="1389888"/>
          </a:xfrm>
          <a:prstGeom prst="rect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176479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2011680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1.8억</a:t>
            </a:r>
            <a:endParaRPr lang="en-US" sz="5800" dirty="0"/>
          </a:p>
        </p:txBody>
      </p:sp>
      <p:sp>
        <p:nvSpPr>
          <p:cNvPr id="31" name="Text 29"/>
          <p:cNvSpPr/>
          <p:nvPr/>
        </p:nvSpPr>
        <p:spPr>
          <a:xfrm>
            <a:off x="6473952" y="279806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서비스 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첫 연간 실적 기록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3163824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3291840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73952" y="3337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73952" y="3584448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4.7억</a:t>
            </a:r>
            <a:endParaRPr lang="en-US" sz="5800" dirty="0"/>
          </a:p>
        </p:txBody>
      </p:sp>
      <p:sp>
        <p:nvSpPr>
          <p:cNvPr id="36" name="Shape 34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+161%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473952" y="4370832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매장 확대 · PG 연동 고도화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전년 대비 161% 폭발 성장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4736592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4864608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73952" y="49103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73952" y="5157216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13억</a:t>
            </a:r>
            <a:endParaRPr lang="en-US" sz="5800" dirty="0"/>
          </a:p>
        </p:txBody>
      </p:sp>
      <p:sp>
        <p:nvSpPr>
          <p:cNvPr id="43" name="Shape 41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+177%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73952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전환 준비 · 특허 5건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성장률 622%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6446520"/>
            <a:ext cx="5742432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6446520"/>
            <a:ext cx="5559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  1.8억 → 13억  ·  622% 성장  ·  특허 5건 확보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1.0에서 2.0으로?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한계  →  SaaS 성장성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1005840"/>
            <a:ext cx="5806440" cy="58521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-18288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1E35B8">
                    <a:alpha val="16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260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1.0  키오스크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7472" y="1600200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구조적 한계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" y="2121408"/>
            <a:ext cx="5257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31343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304288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고정비 부담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" y="2615184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하드웨어 1대 300~500만원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유지보수 · AS · 소모품 지속 발생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ROI 회수 기간 12개월 이상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7472" y="3300984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" y="3291840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의존성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3602736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설치·교체에 현장 방문 필수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원격 업데이트 제한 · 장애 대응 지연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1개소당 1개 장비 = 선형 비용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" y="4288536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1248" y="4279392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스케일링 한계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590288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100개사 → 하드웨어 100대 필요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비례 증가 · 마진 정체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통합 어려움 · 대시보드 부재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7472" y="52760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" y="5266944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 부재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5577840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교체 시 이탈 가능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재구매 주기 3~5년 · 이탈률 높음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생애가치(LTV) 낮음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06440" y="1005840"/>
            <a:ext cx="457200" cy="58521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87568" y="352044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263640" y="1005840"/>
            <a:ext cx="5897880" cy="5852160"/>
          </a:xfrm>
          <a:prstGeom prst="rect">
            <a:avLst/>
          </a:prstGeom>
          <a:solidFill>
            <a:srgbClr val="F8F9FD"/>
          </a:solidFill>
          <a:ln w="12700">
            <a:solidFill>
              <a:srgbClr val="F8F9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F5B731">
                    <a:alpha val="1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</a:t>
            </a:r>
            <a:endParaRPr lang="en-US" sz="26000" dirty="0"/>
          </a:p>
        </p:txBody>
      </p:sp>
      <p:sp>
        <p:nvSpPr>
          <p:cNvPr id="29" name="Shape 27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2.0  미팍티켓  SaaS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46520" y="1600200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성장성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46520" y="2121408"/>
            <a:ext cx="539496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2267712"/>
            <a:ext cx="45720" cy="84124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23134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022592" y="2304288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투자 0원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2615184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즉시 운영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없음 · 설치 없음 · D+1 시작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진입 장벽 완전 제거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46520" y="3255264"/>
            <a:ext cx="45720" cy="84124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65392" y="330098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22592" y="3291840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수평적 확장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22592" y="3602736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 → 1,000개사, 코드 한 줄 변경 없음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고정 · 마진 급증 구조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클라우드 SaaS = 한계비용 0에 수렴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46520" y="4242816"/>
            <a:ext cx="45720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65392" y="428853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022592" y="4279392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구독 + 수수료 이중 수익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022592" y="4590288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MRR + 결제 GMV 수수료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 성장 = 미팍 수익 자동 증가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 · 높은 LTV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46520" y="5230368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52760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022592" y="5266944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기반 성장 엔진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22592" y="5577840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 고객 매출·이용률·피크 데이터 통합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산업 벤치마크 · 크로스셀 기회 발굴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AI 요금 최적화 등 부가기능 확장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0" y="6473952"/>
            <a:ext cx="12161520" cy="2926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7472" y="64739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  :  하드웨어 100대 필요  /  마진 정체  /  이탈 용이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806440" y="64739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731"/>
                </a:solidFill>
              </a:rPr>
              <a:t>→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382512" y="6473952"/>
            <a:ext cx="5614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  :  고객 무한 추가  /  마진 지속 개선  /  높은 LTV  ·  낮은 이탈률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문제 정의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현장이 겪는 3가지 구조적 문제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DC2626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14500" dirty="0"/>
          </a:p>
        </p:txBody>
      </p:sp>
      <p:sp>
        <p:nvSpPr>
          <p:cNvPr id="8" name="Shape 6"/>
          <p:cNvSpPr/>
          <p:nvPr/>
        </p:nvSpPr>
        <p:spPr>
          <a:xfrm>
            <a:off x="384048" y="1097280"/>
            <a:ext cx="356616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384048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현금·수기 정산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84048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주차장의 70%가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아직 현금 정산 운영 중.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오류·분쟁·투명성 부재.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51376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EA580C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14500" dirty="0"/>
          </a:p>
        </p:txBody>
      </p:sp>
      <p:sp>
        <p:nvSpPr>
          <p:cNvPr id="15" name="Shape 13"/>
          <p:cNvSpPr/>
          <p:nvPr/>
        </p:nvSpPr>
        <p:spPr>
          <a:xfrm>
            <a:off x="4297680" y="1097280"/>
            <a:ext cx="356616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8000" dirty="0"/>
          </a:p>
        </p:txBody>
      </p:sp>
      <p:sp>
        <p:nvSpPr>
          <p:cNvPr id="17" name="Text 15"/>
          <p:cNvSpPr/>
          <p:nvPr/>
        </p:nvSpPr>
        <p:spPr>
          <a:xfrm>
            <a:off x="4297680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도입 불가 솔루션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97680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시스템은 게이트·리더기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필수 구매. 50면 이하에게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현실적으로 투자 불가.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65008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4152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7C3AED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14500" dirty="0"/>
          </a:p>
        </p:txBody>
      </p:sp>
      <p:sp>
        <p:nvSpPr>
          <p:cNvPr id="22" name="Shape 20"/>
          <p:cNvSpPr/>
          <p:nvPr/>
        </p:nvSpPr>
        <p:spPr>
          <a:xfrm>
            <a:off x="8211312" y="1097280"/>
            <a:ext cx="356616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1312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8000" dirty="0"/>
          </a:p>
        </p:txBody>
      </p:sp>
      <p:sp>
        <p:nvSpPr>
          <p:cNvPr id="24" name="Text 22"/>
          <p:cNvSpPr/>
          <p:nvPr/>
        </p:nvSpPr>
        <p:spPr>
          <a:xfrm>
            <a:off x="8211312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데이터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211312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1312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매출·이용률·피크타임을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파악할 수단 없음. 감에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의존한 비효율 운영 지속.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5321808"/>
            <a:ext cx="12161520" cy="129844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321808"/>
            <a:ext cx="12161520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4132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시장 기회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8404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7296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0.5%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31012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현재 SaaS 보급률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9904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56억원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623620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GMV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2512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28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블루오션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916228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시장 선점 기회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서비스 개요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0" y="0"/>
            <a:ext cx="6080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 한 번 — 입차부터 정산까지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2148840"/>
            <a:ext cx="11393424" cy="36576"/>
          </a:xfrm>
          <a:prstGeom prst="rect">
            <a:avLst/>
          </a:prstGeom>
          <a:solidFill>
            <a:srgbClr val="5A6490"/>
          </a:solidFill>
          <a:ln w="12700">
            <a:solidFill>
              <a:srgbClr val="5A6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번호판 입력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8736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6440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측정·기록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2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4476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결제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14476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간편결제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848088" y="1938528"/>
            <a:ext cx="420624" cy="420624"/>
          </a:xfrm>
          <a:prstGeom prst="ellipse">
            <a:avLst/>
          </a:prstGeom>
          <a:solidFill>
            <a:srgbClr val="F5B731"/>
          </a:solidFill>
          <a:ln w="1905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0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02512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02512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리포트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4048" y="3337560"/>
            <a:ext cx="11393424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3456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기능  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840480"/>
            <a:ext cx="54864" cy="102412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457200" cy="4572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3385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3385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없이 QR만으로 즉시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입차권 발행. 종이·앱 불필요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15968" y="3840480"/>
            <a:ext cx="54864" cy="10241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457200" cy="4572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06577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 결제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06577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카드·카카오·네이버·토스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PCI-DSS 준수 원클릭 결제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8247888" y="3840480"/>
            <a:ext cx="54864" cy="102412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069080"/>
            <a:ext cx="457200" cy="45720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99769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대시보드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899769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 분석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스마트폰으로 언제 어디서나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384048" y="5074920"/>
            <a:ext cx="54864" cy="10241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03520"/>
            <a:ext cx="457200" cy="45720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13385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관리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113385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월·주 자동 갱신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기업 단체권·할인 쿠폰 연동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315968" y="5074920"/>
            <a:ext cx="54864" cy="10241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5303520"/>
            <a:ext cx="457200" cy="45720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506577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보안·세무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06577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거래내역 자동 보관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세금계산서 자동 발행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247888" y="5074920"/>
            <a:ext cx="54864" cy="10241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5303520"/>
            <a:ext cx="457200" cy="45720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899769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899769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세일즈 포인트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5B731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40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3822192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투자 ZERO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완성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게이트·리더기 불필요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폰으로 즉시 운영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도입비 0원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0F9ED5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4000" dirty="0"/>
          </a:p>
        </p:txBody>
      </p:sp>
      <p:sp>
        <p:nvSpPr>
          <p:cNvPr id="16" name="Shape 14"/>
          <p:cNvSpPr/>
          <p:nvPr/>
        </p:nvSpPr>
        <p:spPr>
          <a:xfrm>
            <a:off x="4251960" y="1115568"/>
            <a:ext cx="3822192" cy="5486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5312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5312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5312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→ QR배포 → 운영 1~2일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교육 영상·매뉴얼 제공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388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16A34A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4000" dirty="0"/>
          </a:p>
        </p:txBody>
      </p:sp>
      <p:sp>
        <p:nvSpPr>
          <p:cNvPr id="24" name="Shape 22"/>
          <p:cNvSpPr/>
          <p:nvPr/>
        </p:nvSpPr>
        <p:spPr>
          <a:xfrm>
            <a:off x="8183880" y="1115568"/>
            <a:ext cx="382219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8504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투명화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8504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숫자가 신뢰를 만든다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8504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8504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매출·이용률 대시보드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세금계산서·정산 보고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주차장주 신뢰 즉시 확보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8308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818CF8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4000" dirty="0"/>
          </a:p>
        </p:txBody>
      </p:sp>
      <p:sp>
        <p:nvSpPr>
          <p:cNvPr id="32" name="Shape 30"/>
          <p:cNvSpPr/>
          <p:nvPr/>
        </p:nvSpPr>
        <p:spPr>
          <a:xfrm>
            <a:off x="320040" y="3840480"/>
            <a:ext cx="382219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120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120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수익 공유 모델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2120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느는 만큼 함께 성장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120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+ 결제 수수료 구조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매출↑ = 미팍 수익↑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이해관계 완전 일치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25196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1500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EA580C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4000" dirty="0"/>
          </a:p>
        </p:txBody>
      </p:sp>
      <p:sp>
        <p:nvSpPr>
          <p:cNvPr id="40" name="Shape 38"/>
          <p:cNvSpPr/>
          <p:nvPr/>
        </p:nvSpPr>
        <p:spPr>
          <a:xfrm>
            <a:off x="4251960" y="3840480"/>
            <a:ext cx="382219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5312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45312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45312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한 번 쓰면 계속 쓴다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5312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5312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고객 데이터 누적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양방향 앱 생태계 구축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8388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4692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7C3AED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4000" dirty="0"/>
          </a:p>
        </p:txBody>
      </p:sp>
      <p:sp>
        <p:nvSpPr>
          <p:cNvPr id="48" name="Shape 46"/>
          <p:cNvSpPr/>
          <p:nvPr/>
        </p:nvSpPr>
        <p:spPr>
          <a:xfrm>
            <a:off x="8183880" y="3840480"/>
            <a:ext cx="38221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8504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8504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확장성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38504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프랜차이즈·API 연동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8504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8504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API·화이트라벨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멀티 주차장 통합 관리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대형 체인 체계적 공략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요금제 구조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Pricing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61872"/>
            <a:ext cx="54864" cy="50657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16A34A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19900</a:t>
            </a:r>
            <a:endParaRPr lang="en-US" sz="10000" dirty="0"/>
          </a:p>
        </p:txBody>
      </p:sp>
      <p:sp>
        <p:nvSpPr>
          <p:cNvPr id="10" name="Shape 8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무료 체험 후 전환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Starter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19,900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148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QR 발권 기본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알림톡 월 1,000건 포함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결제 이력 조회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기본 CS 지원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1261872"/>
            <a:ext cx="54864" cy="5065776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1752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39900</a:t>
            </a:r>
            <a:endParaRPr lang="en-US" sz="10000" dirty="0"/>
          </a:p>
        </p:txBody>
      </p:sp>
      <p:sp>
        <p:nvSpPr>
          <p:cNvPr id="23" name="Shape 21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가장 인기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3756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33756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39,900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33756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3.3%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3756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Starter 전체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알림톡 월 3,000건 포함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정기권 관리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매출 대시보드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078992"/>
            <a:ext cx="2788920" cy="5321808"/>
          </a:xfrm>
          <a:prstGeom prst="rect">
            <a:avLst/>
          </a:prstGeom>
          <a:solidFill>
            <a:srgbClr val="1428A0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078992"/>
            <a:ext cx="2788920" cy="7315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0" y="1152144"/>
            <a:ext cx="54864" cy="524865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153619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69900</a:t>
            </a:r>
            <a:endParaRPr lang="en-US" sz="10000" dirty="0"/>
          </a:p>
        </p:txBody>
      </p:sp>
      <p:sp>
        <p:nvSpPr>
          <p:cNvPr id="37" name="Shape 35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48"/>
                </a:solidFill>
              </a:rPr>
              <a:t>추천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3640" y="167335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6263640" y="217627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69,900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263640" y="26517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3.0%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298094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Basic 전체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0" y="36667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알림톡 월 10,000건 포함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419709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멀티 주차장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09360" y="472744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쿠폰·할인 관리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09360" y="5257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고급 분석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5256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52560" y="1261872"/>
            <a:ext cx="54864" cy="5065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6968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7C3AED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∞</a:t>
            </a:r>
            <a:endParaRPr lang="en-US" sz="10000" dirty="0"/>
          </a:p>
        </p:txBody>
      </p:sp>
      <p:sp>
        <p:nvSpPr>
          <p:cNvPr id="51" name="Shape 49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대형·프랜차이즈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18972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918972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협의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918972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2.8% 협의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18972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23544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Pro 전체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3544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알림톡 무제한 포함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3544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API·화이트라벨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23544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전담 매니저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35440" y="54406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맞춤 개발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65760" y="653796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※ 알림톡 초과 발송 시 건당 12원 고객 청구 (수익원 전환)  ·  수수료 = PG 원가(2.0%) 차감 후 미팍 수취분  ·  티어 믹스: Starter 30% / Basic 40% / Pro 20% / Enterprise 10%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재무 시뮬레이션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132320" y="0"/>
            <a:ext cx="4864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알림톡 요금제 내재화  ·  초과 건당 12원 수익 반영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170432"/>
            <a:ext cx="54864" cy="150876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225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48132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4360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1.4억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92808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892808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5,497만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91256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1256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39.3%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25877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서버인프라 168만/월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" y="2779776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" y="2907792"/>
            <a:ext cx="54864" cy="1508760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9626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35B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21868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250사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594360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94360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4.4억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892808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892808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1.87억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91256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91256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42.5%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43251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5B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서버인프라 385만/월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048" y="4517136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4645152"/>
            <a:ext cx="54864" cy="15087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7000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" y="495604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500사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594360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4360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10.1억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892808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92808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5.07억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191256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191256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50.2%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60624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서버인프라 750만/월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" y="6309360"/>
            <a:ext cx="3931920" cy="25603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8912" y="6309360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BEP Q2 당겨짐  ·  알림톡 수익화로 이익률 50% 돌파 (3년차)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800600" y="1078992"/>
            <a:ext cx="7132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💡  알림톡 수익 구조 전환  ·  비용 → 매출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00600" y="1426464"/>
            <a:ext cx="7132320" cy="20117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00600" y="1490472"/>
            <a:ext cx="7132320" cy="310896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0" y="1490472"/>
            <a:ext cx="18470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항목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6656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2104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87552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430000" y="1490472"/>
            <a:ext cx="4754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비고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800600" y="1801368"/>
            <a:ext cx="71323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1819656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① 알림톡 COGS (과거)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76656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1,800만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32104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4,500만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87552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9,000만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1430000" y="1819656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비용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800600" y="2139696"/>
            <a:ext cx="7132320" cy="338328"/>
          </a:xfrm>
          <a:prstGeom prst="rect">
            <a:avLst/>
          </a:prstGeom>
          <a:solidFill>
            <a:srgbClr val="F0FFF4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46320" y="2157984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② 요금제 내재화 → 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76656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0만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32104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0만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87552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0만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1430000" y="2157984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이관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800600" y="2478024"/>
            <a:ext cx="7132320" cy="338328"/>
          </a:xfrm>
          <a:prstGeom prst="rect">
            <a:avLst/>
          </a:prstGeom>
          <a:solidFill>
            <a:srgbClr val="FEF9E7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46320" y="2496312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③ 초과과금 수익 (+12원)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76656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+344만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32104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+860만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87552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+2,160만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11430000" y="2496312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신규↑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800600" y="2926080"/>
            <a:ext cx="7132320" cy="182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800600" y="3072384"/>
            <a:ext cx="71323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46320" y="3090672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서버·DB·CDN (연)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766560" y="309067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168만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321040" y="309067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420만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9875520" y="309067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840만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11430000" y="3090672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선형↑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00600" y="3410712"/>
            <a:ext cx="7132320" cy="338328"/>
          </a:xfrm>
          <a:prstGeom prst="rect">
            <a:avLst/>
          </a:prstGeom>
          <a:solidFill>
            <a:srgbClr val="E0F2F7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46320" y="3429000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인프라 COGS 합계 (연)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766560" y="342900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168만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321040" y="342900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420만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875520" y="342900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840만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11430000" y="3429000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↓82%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800600" y="3749040"/>
            <a:ext cx="7132320" cy="338328"/>
          </a:xfrm>
          <a:prstGeom prst="rect">
            <a:avLst/>
          </a:prstGeom>
          <a:solidFill>
            <a:srgbClr val="E8F5E9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46320" y="3767328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영업이익률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766560" y="376732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39.3%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8321040" y="376732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42.5%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9875520" y="376732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50.2%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11430000" y="3767328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+22%p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00600" y="4251960"/>
            <a:ext cx="7132320" cy="20117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graphicFrame>
        <p:nvGraphicFramePr>
          <p:cNvPr id="89" name="Chart 0" descr=""/>
          <p:cNvGraphicFramePr/>
          <p:nvPr/>
        </p:nvGraphicFramePr>
        <p:xfrm>
          <a:off x="4800600" y="4343400"/>
          <a:ext cx="7132320" cy="2221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0" name="Text 87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실행 로드맵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  →  2027  →  2028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4592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16500" dirty="0"/>
          </a:p>
        </p:txBody>
      </p:sp>
      <p:sp>
        <p:nvSpPr>
          <p:cNvPr id="8" name="Shape 6"/>
          <p:cNvSpPr/>
          <p:nvPr/>
        </p:nvSpPr>
        <p:spPr>
          <a:xfrm>
            <a:off x="347472" y="1078992"/>
            <a:ext cx="3749040" cy="65836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 2026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27432" cy="44074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" y="2011680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 v1.0 출시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30352" y="2816352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파일럿 20개사 → 100개사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30352" y="3621024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3사 연동 완료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30352" y="4425696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미스터팍 시스템 연동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30352" y="5230368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영업이익 흑자 전환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87952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1E35B8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2027</a:t>
            </a:r>
            <a:endParaRPr lang="en-US" sz="16500" dirty="0"/>
          </a:p>
        </p:txBody>
      </p:sp>
      <p:sp>
        <p:nvSpPr>
          <p:cNvPr id="23" name="Shape 21"/>
          <p:cNvSpPr/>
          <p:nvPr/>
        </p:nvSpPr>
        <p:spPr>
          <a:xfrm>
            <a:off x="4297680" y="1078992"/>
            <a:ext cx="3749040" cy="65836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  2027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590288" y="1737360"/>
            <a:ext cx="27432" cy="440740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2011680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고도화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480560" y="2816352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250개사 달성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480560" y="3621024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인력 1명 추가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480560" y="4425696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대시보드 v2.0 출시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80560" y="5230368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 1.1억 달성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138160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65008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2028</a:t>
            </a:r>
            <a:endParaRPr lang="en-US" sz="16500" dirty="0"/>
          </a:p>
        </p:txBody>
      </p:sp>
      <p:sp>
        <p:nvSpPr>
          <p:cNvPr id="38" name="Shape 36"/>
          <p:cNvSpPr/>
          <p:nvPr/>
        </p:nvSpPr>
        <p:spPr>
          <a:xfrm>
            <a:off x="8247888" y="1078992"/>
            <a:ext cx="3749040" cy="65836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 2028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8540496" y="1737360"/>
            <a:ext cx="27432" cy="44074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30768" y="2011680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14816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 런칭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430768" y="2816352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14816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500개사 달성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430768" y="3621024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14816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MRR 2,200만원/월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8430768" y="4425696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14816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 체인 공략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430768" y="5230368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14816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영업이익률 34.6% 달성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47472" y="6108192"/>
            <a:ext cx="11475720" cy="5943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7472" y="6108192"/>
            <a:ext cx="11475720" cy="3657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목표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30352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≤ 2%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3438144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Basic+ 비율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438144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85%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45936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비율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345936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20%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253728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최종 MRR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253728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2,200만/월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-1645920"/>
            <a:ext cx="8229600" cy="9601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0" b="1" dirty="0">
                <a:solidFill>
                  <a:srgbClr val="1E35B8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미팍티켓인가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686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3749040" cy="457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14억 매출 실운영 노하우  ·  특허 5건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207008"/>
            <a:ext cx="374904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완벽한 시장 타이밍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8912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디지털 전환 초기  ·  경쟁자 없는 선점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1207008"/>
            <a:ext cx="37490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확장성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2104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코드 없이 고객 추가  ·  100→1,000개사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76272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31720"/>
            <a:ext cx="114300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미팍티켓은 단순한 주차 결제 앱이 아닙니다.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 생태계를 디지털로 전환하는 SaaS 플랫폼입니다.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미스터팍의 검증된 운영 기반 위에, 국내 25만 소규모 주차장 시장을 선점할 준비가 완료되었습니다.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617720"/>
            <a:ext cx="11539728" cy="12070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617720"/>
            <a:ext cx="91440" cy="12070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6634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지금 시작할 준비가 되어 있습니다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13232" y="5212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목표  :  500개사  ·  영업이익 3.5억  ·  MRR 2,200만원  ·  GMV 475억원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546811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A6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mepark1022@gmail.com  ·  www.mepark.kr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565392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미팍티켓 사업계획서 2026–2028</dc:title>
  <dc:subject>PptxGenJS Presentation</dc:subject>
  <dc:creator>주식회사 미스터팍</dc:creator>
  <cp:lastModifiedBy>주식회사 미스터팍</cp:lastModifiedBy>
  <cp:revision>1</cp:revision>
  <dcterms:created xsi:type="dcterms:W3CDTF">2026-02-21T16:44:29Z</dcterms:created>
  <dcterms:modified xsi:type="dcterms:W3CDTF">2026-02-21T16:44:29Z</dcterms:modified>
</cp:coreProperties>
</file>