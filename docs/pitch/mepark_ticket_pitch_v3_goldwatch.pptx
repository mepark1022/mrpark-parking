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D2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D2B"/>
                </a:solidFill>
                <a:latin typeface="Arial"/>
              </a:rPr>
              <a:t>연간 매출  &amp;  영업이익  (단위: 백만원)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(백만원)</c:v>
                </c:pt>
              </c:strCache>
            </c:strRef>
          </c:tx>
          <c:spPr>
            <a:solidFill>
              <a:srgbClr val="142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D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141</c:v>
                </c:pt>
                <c:pt idx="1">
                  <c:v>438</c:v>
                </c:pt>
                <c:pt idx="2">
                  <c:v>1012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 (백만원)</c:v>
                </c:pt>
              </c:strCache>
            </c:strRef>
          </c:tx>
          <c:spPr>
            <a:solidFill>
              <a:srgbClr val="F5B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D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111</c:v>
                </c:pt>
                <c:pt idx="2">
                  <c:v>351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D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D2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D2B"/>
                </a:solidFill>
                <a:latin typeface="Arial"/>
              </a:rPr>
              <a:t>MRR 성장 추이  (분기별, 만원)  →  3년차 2,200만원/월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MRR (만원)</c:v>
                </c:pt>
              </c:strCache>
            </c:strRef>
          </c:tx>
          <c:spPr>
            <a:solidFill>
              <a:srgbClr val="F5B731"/>
            </a:solidFill>
            <a:ln w="38100" cap="flat">
              <a:solidFill>
                <a:srgbClr val="F5B7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B731"/>
              </a:solidFill>
              <a:ln w="9525" cap="flat">
                <a:solidFill>
                  <a:srgbClr val="F5B7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  <c:pt idx="10">
                    <c:v>Q11</c:v>
                  </c:pt>
                  <c:pt idx="11">
                    <c:v>Q12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</c:v>
                </c:pt>
                <c:pt idx="1">
                  <c:v>185</c:v>
                </c:pt>
                <c:pt idx="2">
                  <c:v>278</c:v>
                </c:pt>
                <c:pt idx="3">
                  <c:v>370</c:v>
                </c:pt>
                <c:pt idx="4">
                  <c:v>444</c:v>
                </c:pt>
                <c:pt idx="5">
                  <c:v>592</c:v>
                </c:pt>
                <c:pt idx="6">
                  <c:v>740</c:v>
                </c:pt>
                <c:pt idx="7">
                  <c:v>1000</c:v>
                </c:pt>
                <c:pt idx="8">
                  <c:v>1320</c:v>
                </c:pt>
                <c:pt idx="9">
                  <c:v>1672</c:v>
                </c:pt>
                <c:pt idx="10">
                  <c:v>1980</c:v>
                </c:pt>
                <c:pt idx="11">
                  <c:v>2200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731520" y="-914400"/>
            <a:ext cx="777240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0" b="1" dirty="0">
                <a:solidFill>
                  <a:srgbClr val="1E35B8">
                    <a:alpha val="18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</a:t>
            </a:r>
            <a:endParaRPr lang="en-US" sz="60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66928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280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28A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280160" cy="18288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658368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미팍</a:t>
            </a:r>
            <a:pPr indent="0" marL="0">
              <a:buNone/>
            </a:pPr>
            <a:r>
              <a:rPr lang="en-US" sz="30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Ticket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SaaS · 주차 결제 플랫폼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2176272"/>
            <a:ext cx="6510528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6080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spc="-8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소규모 주차장을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spc="-8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위한 스마트 결제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6080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기반  ·  설비 투자 0원  ·  D+1 온보딩  ·  2026–2028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5074920"/>
            <a:ext cx="6510528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23036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100사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697480" y="5422392"/>
            <a:ext cx="0" cy="0"/>
          </a:xfrm>
          <a:prstGeom prst="line">
            <a:avLst/>
          </a:prstGeom>
          <a:noFill/>
          <a:ln w="12700">
            <a:solidFill>
              <a:srgbClr val="5A6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52852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1년차 목표 고객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10억+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697480" y="5861304"/>
            <a:ext cx="0" cy="0"/>
          </a:xfrm>
          <a:prstGeom prst="line">
            <a:avLst/>
          </a:prstGeom>
          <a:noFill/>
          <a:ln w="12700">
            <a:solidFill>
              <a:srgbClr val="5A6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57241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3년차 연간 매출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1081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Q3 흑자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697480" y="6300216"/>
            <a:ext cx="0" cy="0"/>
          </a:xfrm>
          <a:prstGeom prst="line">
            <a:avLst/>
          </a:prstGeom>
          <a:noFill/>
          <a:ln w="12700">
            <a:solidFill>
              <a:srgbClr val="5A6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61630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손익분기 전환점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11480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E35B8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2026</a:t>
            </a:r>
            <a:endParaRPr lang="en-US" sz="20000" dirty="0"/>
          </a:p>
        </p:txBody>
      </p:sp>
      <p:sp>
        <p:nvSpPr>
          <p:cNvPr id="24" name="Text 22"/>
          <p:cNvSpPr/>
          <p:nvPr/>
        </p:nvSpPr>
        <p:spPr>
          <a:xfrm>
            <a:off x="6858000" y="594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사업계획서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0" y="1325880"/>
            <a:ext cx="5120640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536192"/>
            <a:ext cx="54864" cy="138988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1609344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9ED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25만+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7059168" y="243230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국내 소규모 주차장 (50면 이하)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2980944"/>
            <a:ext cx="516636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3108960"/>
            <a:ext cx="54864" cy="1389888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3182112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475억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7059168" y="40050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3년 누적 GMV (결제처리액)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4553712"/>
            <a:ext cx="516636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4681728"/>
            <a:ext cx="54864" cy="1389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4754880"/>
            <a:ext cx="4389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30.6%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7059168" y="5577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3년 평균 영업이익률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651052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3355"/>
                </a:solidFill>
              </a:rPr>
              <a:t>주식회사 미스터팍  |  Mr. Park Co.,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현장이 겪는 3가지 구조적 문제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" y="777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0" b="1" dirty="0">
                <a:solidFill>
                  <a:srgbClr val="DC2626">
                    <a:alpha val="12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70%</a:t>
            </a:r>
            <a:endParaRPr lang="en-US" sz="14500" dirty="0"/>
          </a:p>
        </p:txBody>
      </p:sp>
      <p:sp>
        <p:nvSpPr>
          <p:cNvPr id="8" name="Shape 6"/>
          <p:cNvSpPr/>
          <p:nvPr/>
        </p:nvSpPr>
        <p:spPr>
          <a:xfrm>
            <a:off x="384048" y="1097280"/>
            <a:ext cx="3566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566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70%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현금·수기 정산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4048" y="3017520"/>
            <a:ext cx="3566160" cy="13716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12724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소규모 주차장의 70%가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아직 현금 정산 운영 중.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오류·분쟁·투명성 부재.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1005840"/>
            <a:ext cx="0" cy="5349240"/>
          </a:xfrm>
          <a:prstGeom prst="line">
            <a:avLst/>
          </a:prstGeom>
          <a:noFill/>
          <a:ln w="12700">
            <a:solidFill>
              <a:srgbClr val="DD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777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0" b="1" dirty="0">
                <a:solidFill>
                  <a:srgbClr val="EA580C">
                    <a:alpha val="12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0원</a:t>
            </a:r>
            <a:endParaRPr lang="en-US" sz="14500" dirty="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35661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61872"/>
            <a:ext cx="3566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0원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4297680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도입 불가 솔루션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97680" y="3017520"/>
            <a:ext cx="3566160" cy="13716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12724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기존 시스템은 게이트·리더기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필수 구매. 50면 이하에게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현실적으로 투자 불가.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1005840"/>
            <a:ext cx="0" cy="5349240"/>
          </a:xfrm>
          <a:prstGeom prst="line">
            <a:avLst/>
          </a:prstGeom>
          <a:noFill/>
          <a:ln w="12700">
            <a:solidFill>
              <a:srgbClr val="DD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777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0" b="1" dirty="0">
                <a:solidFill>
                  <a:srgbClr val="7C3AED">
                    <a:alpha val="12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0개</a:t>
            </a:r>
            <a:endParaRPr lang="en-US" sz="14500" dirty="0"/>
          </a:p>
        </p:txBody>
      </p:sp>
      <p:sp>
        <p:nvSpPr>
          <p:cNvPr id="22" name="Shape 20"/>
          <p:cNvSpPr/>
          <p:nvPr/>
        </p:nvSpPr>
        <p:spPr>
          <a:xfrm>
            <a:off x="8211312" y="1097280"/>
            <a:ext cx="3566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1261872"/>
            <a:ext cx="3566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0개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8211312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운영 데이터 없음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211312" y="3017520"/>
            <a:ext cx="3566160" cy="13716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312724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매출·이용률·피크타임을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파악할 수단 없음. 감에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의존한 비효율 운영 지속.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321808"/>
            <a:ext cx="12161520" cy="1298448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321808"/>
            <a:ext cx="12161520" cy="54864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4132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시장 기회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5779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25만+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84048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소규모 주차장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5486400"/>
            <a:ext cx="0" cy="1133856"/>
          </a:xfrm>
          <a:prstGeom prst="line">
            <a:avLst/>
          </a:prstGeom>
          <a:noFill/>
          <a:ln w="10160">
            <a:solidFill>
              <a:srgbClr val="2D3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5779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0.5%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10128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현재 SaaS 보급률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99048" y="5486400"/>
            <a:ext cx="0" cy="1133856"/>
          </a:xfrm>
          <a:prstGeom prst="line">
            <a:avLst/>
          </a:prstGeom>
          <a:noFill/>
          <a:ln w="10160">
            <a:solidFill>
              <a:srgbClr val="2D33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5779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56억원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236208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1년차 목표 GMV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25128" y="5486400"/>
            <a:ext cx="0" cy="1133856"/>
          </a:xfrm>
          <a:prstGeom prst="line">
            <a:avLst/>
          </a:prstGeom>
          <a:noFill/>
          <a:ln w="10160">
            <a:solidFill>
              <a:srgbClr val="2D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288" y="5779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블루오션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9162288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초기 시장 선점 기회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·  ME.PARK Ticket  ·  2026 사업계획서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서비스 개요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6080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스캔 한 번 — 입차부터 정산까지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2148840"/>
            <a:ext cx="11393424" cy="36576"/>
          </a:xfrm>
          <a:prstGeom prst="rect">
            <a:avLst/>
          </a:prstGeom>
          <a:solidFill>
            <a:srgbClr val="5A6490"/>
          </a:solidFill>
          <a:ln w="12700">
            <a:solidFill>
              <a:srgbClr val="5A6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938528"/>
            <a:ext cx="420624" cy="420624"/>
          </a:xfrm>
          <a:prstGeom prst="ellipse">
            <a:avLst/>
          </a:prstGeom>
          <a:solidFill>
            <a:srgbClr val="1E35B8"/>
          </a:solidFill>
          <a:ln w="19050">
            <a:solidFill>
              <a:srgbClr val="5A6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입차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스캔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번호판 입력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87368" y="1938528"/>
            <a:ext cx="420624" cy="420624"/>
          </a:xfrm>
          <a:prstGeom prst="ellipse">
            <a:avLst/>
          </a:prstGeom>
          <a:solidFill>
            <a:srgbClr val="1E35B8"/>
          </a:solidFill>
          <a:ln w="19050">
            <a:solidFill>
              <a:srgbClr val="5A6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64408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자동 시간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측정·기록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67728" y="1938528"/>
            <a:ext cx="420624" cy="420624"/>
          </a:xfrm>
          <a:prstGeom prst="ellipse">
            <a:avLst/>
          </a:prstGeom>
          <a:solidFill>
            <a:srgbClr val="1E35B8"/>
          </a:solidFill>
          <a:ln w="19050">
            <a:solidFill>
              <a:srgbClr val="5A6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결제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44768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PG 통합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간편결제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48088" y="1938528"/>
            <a:ext cx="420624" cy="420624"/>
          </a:xfrm>
          <a:prstGeom prst="ellipse">
            <a:avLst/>
          </a:prstGeom>
          <a:solidFill>
            <a:srgbClr val="F5B731"/>
          </a:solidFill>
          <a:ln w="19050">
            <a:solidFill>
              <a:srgbClr val="F5B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4808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E4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5128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정산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25128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실시간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자동 리포트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337560"/>
            <a:ext cx="11393424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핵심 기능  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840480"/>
            <a:ext cx="54864" cy="102412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33856" y="3913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발권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33856" y="426110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설비 없이 QR만으로 즉시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입차권 발행. 종이·앱 불필요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15968" y="3840480"/>
            <a:ext cx="54864" cy="1024128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069080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65776" y="3913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PG 통합 결제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065776" y="426110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카드·카카오·네이버·토스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PCI-DSS 준수 원클릭 결제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8247888" y="3840480"/>
            <a:ext cx="54864" cy="1024128"/>
          </a:xfrm>
          <a:prstGeom prst="rect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069080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97696" y="3913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실시간 대시보드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997696" y="426110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매출·이용률·피크 분석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스마트폰으로 언제 어디서나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384048" y="5074920"/>
            <a:ext cx="54864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03520"/>
            <a:ext cx="457200" cy="4572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133856" y="51480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정기권 관리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1133856" y="54955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월·주 자동 갱신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기업 단체권·할인 쿠폰 연동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315968" y="5074920"/>
            <a:ext cx="54864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5303520"/>
            <a:ext cx="457200" cy="4572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065776" y="51480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보안·세무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5065776" y="54955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거래내역 자동 보관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세금계산서 자동 발행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247888" y="5074920"/>
            <a:ext cx="54864" cy="10241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5303520"/>
            <a:ext cx="457200" cy="45720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997696" y="51480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D+1 온보딩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8997696" y="54955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계약 다음날 운영 시작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전담 CS 원격 세팅 지원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457200" y="64922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·  ME.PARK Ticket  ·  2026 사업계획서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핵심 세일즈 포인트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6126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5B731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4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822192" cy="54864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527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664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설비 투자 ZERO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스마트폰 + QR = 완성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395728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328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게이트·리더기 불필요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기존 폰으로 즉시 운영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초기 도입비 0원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115568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6126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9ED5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0" dirty="0"/>
          </a:p>
        </p:txBody>
      </p:sp>
      <p:sp>
        <p:nvSpPr>
          <p:cNvPr id="16" name="Shape 14"/>
          <p:cNvSpPr/>
          <p:nvPr/>
        </p:nvSpPr>
        <p:spPr>
          <a:xfrm>
            <a:off x="4251960" y="1115568"/>
            <a:ext cx="3822192" cy="5486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2527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ED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53128" y="1664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D+1 온보딩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53128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ED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계약 다음날 운영 시작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53128" y="2395728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5328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계약 → QR배포 → 운영 1~2일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전담 CS 원격 세팅 지원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교육 영상·매뉴얼 제공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1115568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612648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6A34A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0" dirty="0"/>
          </a:p>
        </p:txBody>
      </p:sp>
      <p:sp>
        <p:nvSpPr>
          <p:cNvPr id="24" name="Shape 22"/>
          <p:cNvSpPr/>
          <p:nvPr/>
        </p:nvSpPr>
        <p:spPr>
          <a:xfrm>
            <a:off x="8183880" y="1115568"/>
            <a:ext cx="382219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12527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85048" y="1664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 투명화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85048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숫자가 신뢰를 만든다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85048" y="2395728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25328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실시간 매출·이용률 대시보드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자동 세금계산서·정산 보고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주차장주 신뢰 즉시 확보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840480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337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818CF8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0" dirty="0"/>
          </a:p>
        </p:txBody>
      </p:sp>
      <p:sp>
        <p:nvSpPr>
          <p:cNvPr id="32" name="Shape 30"/>
          <p:cNvSpPr/>
          <p:nvPr/>
        </p:nvSpPr>
        <p:spPr>
          <a:xfrm>
            <a:off x="320040" y="3840480"/>
            <a:ext cx="3822192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3977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수익 공유 모델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" y="4828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 느는 만큼 함께 성장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" y="5120640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월정액 + 결제 수수료 구조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고객 매출↑ = 미팍 수익↑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이해관계 완전 일치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51960" y="3840480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337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A580C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0" dirty="0"/>
          </a:p>
        </p:txBody>
      </p:sp>
      <p:sp>
        <p:nvSpPr>
          <p:cNvPr id="40" name="Shape 38"/>
          <p:cNvSpPr/>
          <p:nvPr/>
        </p:nvSpPr>
        <p:spPr>
          <a:xfrm>
            <a:off x="4251960" y="3840480"/>
            <a:ext cx="382219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53128" y="3977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453128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록인 구조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453128" y="4828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한 번 쓰면 계속 쓴다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53128" y="5120640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정기권 고객 데이터 누적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이탈률 2% 이하 목표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양방향 앱 생태계 구축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83880" y="3840480"/>
            <a:ext cx="382219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46920" y="3337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7C3AED">
                    <a:alpha val="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4000" dirty="0"/>
          </a:p>
        </p:txBody>
      </p:sp>
      <p:sp>
        <p:nvSpPr>
          <p:cNvPr id="48" name="Shape 46"/>
          <p:cNvSpPr/>
          <p:nvPr/>
        </p:nvSpPr>
        <p:spPr>
          <a:xfrm>
            <a:off x="8183880" y="3840480"/>
            <a:ext cx="38221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85048" y="3977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385048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확장성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385048" y="4828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프랜차이즈·API 연동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85048" y="5120640"/>
            <a:ext cx="329184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5048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 API·화이트라벨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멀티 주차장 통합 관리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대형 체인 체계적 공략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·  ME.PARK Ticket  ·  2026 사업계획서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요금제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Pricing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5138928"/>
          </a:xfrm>
          <a:prstGeom prst="rect">
            <a:avLst/>
          </a:prstGeom>
          <a:solidFill>
            <a:srgbClr val="0D1B6A"/>
          </a:solidFill>
          <a:ln w="12700">
            <a:solidFill>
              <a:srgbClr val="2D33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61872"/>
            <a:ext cx="54864" cy="5065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7190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6A34A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19900</a:t>
            </a:r>
            <a:endParaRPr lang="en-US" sz="100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25146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무료 체험 후 전환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Starter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₩  19,900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월   수수료 3.5%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63824"/>
            <a:ext cx="2514600" cy="12802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QR 발권 기본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결제 이력 조회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79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기본 CS 지원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261872"/>
            <a:ext cx="2788920" cy="5138928"/>
          </a:xfrm>
          <a:prstGeom prst="rect">
            <a:avLst/>
          </a:prstGeom>
          <a:solidFill>
            <a:srgbClr val="0D1B6A"/>
          </a:solidFill>
          <a:ln w="12700">
            <a:solidFill>
              <a:srgbClr val="2D33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261872"/>
            <a:ext cx="54864" cy="506577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7190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F9ED5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39900</a:t>
            </a:r>
            <a:endParaRPr lang="en-US" sz="10000" dirty="0"/>
          </a:p>
        </p:txBody>
      </p:sp>
      <p:sp>
        <p:nvSpPr>
          <p:cNvPr id="22" name="Shape 20"/>
          <p:cNvSpPr/>
          <p:nvPr/>
        </p:nvSpPr>
        <p:spPr>
          <a:xfrm>
            <a:off x="3337560" y="1463040"/>
            <a:ext cx="2514600" cy="2743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가장 인기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18562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Basic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2359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ED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₩  39,900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3756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월   수수료 3.3%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163824"/>
            <a:ext cx="2514600" cy="12802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319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Starter 전체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849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정기권 관리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379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매출 대시보드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910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이메일 알림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078992"/>
            <a:ext cx="2788920" cy="5321808"/>
          </a:xfrm>
          <a:prstGeom prst="rect">
            <a:avLst/>
          </a:prstGeom>
          <a:solidFill>
            <a:srgbClr val="1428A0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78992"/>
            <a:ext cx="2788920" cy="73152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152144"/>
            <a:ext cx="54864" cy="5248656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153619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5B731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69900</a:t>
            </a:r>
            <a:endParaRPr lang="en-US" sz="10000" dirty="0"/>
          </a:p>
        </p:txBody>
      </p:sp>
      <p:sp>
        <p:nvSpPr>
          <p:cNvPr id="36" name="Shape 34"/>
          <p:cNvSpPr/>
          <p:nvPr/>
        </p:nvSpPr>
        <p:spPr>
          <a:xfrm>
            <a:off x="6263640" y="1280160"/>
            <a:ext cx="2514600" cy="2743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48"/>
                </a:solidFill>
              </a:rPr>
              <a:t>추천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6733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263640" y="21762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₩  69,900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263640" y="26517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월   수수료 3.0%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2980944"/>
            <a:ext cx="2514600" cy="12802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Basic 전체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666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멀티 주차장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41970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쿠폰·할인 관리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4727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고급 분석 리포트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5257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우선 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2560" y="1261872"/>
            <a:ext cx="2788920" cy="5138928"/>
          </a:xfrm>
          <a:prstGeom prst="rect">
            <a:avLst/>
          </a:prstGeom>
          <a:solidFill>
            <a:srgbClr val="0D1B6A"/>
          </a:solidFill>
          <a:ln w="12700">
            <a:solidFill>
              <a:srgbClr val="2D33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52560" y="1261872"/>
            <a:ext cx="54864" cy="5065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0" y="17190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7C3AED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∞</a:t>
            </a:r>
            <a:endParaRPr lang="en-US" sz="10000" dirty="0"/>
          </a:p>
        </p:txBody>
      </p:sp>
      <p:sp>
        <p:nvSpPr>
          <p:cNvPr id="50" name="Shape 48"/>
          <p:cNvSpPr/>
          <p:nvPr/>
        </p:nvSpPr>
        <p:spPr>
          <a:xfrm>
            <a:off x="9189720" y="1463040"/>
            <a:ext cx="25146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대형·프랜차이즈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89720" y="18562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189720" y="2359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₩  협의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18972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월   수수료 2.8% 협의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89720" y="3163824"/>
            <a:ext cx="2514600" cy="12802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5440" y="3319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Pro 전체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35440" y="3849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API·화이트라벨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235440" y="4379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SLA 보장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235440" y="4910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전담 매니저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235440" y="5440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  맞춤 개발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3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※ 수수료 = PG 원가(2.0%) 차감 후 미팍 수취분  ·  1년차 티어 믹스 가정: Starter 30% / Basic 40% / Pro 20% / Enterprise 10%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3개년 재무 계획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170432"/>
            <a:ext cx="54864" cy="15087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435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9ED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1년차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179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100사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1.4억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92808" y="2176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영업이익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92808" y="23591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2,453만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91256" y="2176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이익률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91256" y="23591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17.4%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" y="2743200"/>
            <a:ext cx="393192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907792"/>
            <a:ext cx="54864" cy="1508760"/>
          </a:xfrm>
          <a:prstGeom prst="rect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809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2년차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25526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250사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94360" y="39136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4096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4.4억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92808" y="39136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영업이익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92808" y="4096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1.1억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91256" y="39136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이익률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91256" y="4096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25.4%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4480560"/>
            <a:ext cx="3931920" cy="10973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645152"/>
            <a:ext cx="54864" cy="15087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718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3년차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99262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500사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594360" y="5650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매출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5833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3D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10.1억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92808" y="5650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영업이익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92808" y="5833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3D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3.5억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91256" y="5650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이익률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91256" y="5833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3D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34.6%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4048" y="6309360"/>
            <a:ext cx="3931920" cy="2286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6309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E4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손익분기점  Q3  (1년차 7~8개월)</a:t>
            </a:r>
            <a:endParaRPr lang="en-US" sz="95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4754880" y="1078992"/>
          <a:ext cx="7132320" cy="26334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Shape 37"/>
          <p:cNvSpPr/>
          <p:nvPr/>
        </p:nvSpPr>
        <p:spPr>
          <a:xfrm>
            <a:off x="4754880" y="3840480"/>
            <a:ext cx="7132320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graphicFrame>
        <p:nvGraphicFramePr>
          <p:cNvPr id="41" name="Chart 1" descr=""/>
          <p:cNvGraphicFramePr/>
          <p:nvPr/>
        </p:nvGraphicFramePr>
        <p:xfrm>
          <a:off x="4754880" y="3913632"/>
          <a:ext cx="7132320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457200" y="64922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·  ME.PARK Ticket  ·  2026 사업계획서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실행 로드맵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2026  →  2027  →  2028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73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" y="65836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0" b="1" dirty="0">
                <a:solidFill>
                  <a:srgbClr val="0F9ED5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2026</a:t>
            </a:r>
            <a:endParaRPr lang="en-US" sz="165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3749040" cy="65836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789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1년차  2026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27432" cy="440740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011680"/>
            <a:ext cx="237744" cy="23774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019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발권 v1.0 출시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" y="2816352"/>
            <a:ext cx="237744" cy="23774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0662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파일럿 20개사 → 100개사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" y="3621024"/>
            <a:ext cx="237744" cy="23774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PG 3사 연동 완료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0352" y="4425696"/>
            <a:ext cx="237744" cy="23774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159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기존 미스터팍 시스템 연동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5230368"/>
            <a:ext cx="237744" cy="23774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206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Q3 영업이익 흑자 전환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87952" y="1078992"/>
            <a:ext cx="0" cy="5248656"/>
          </a:xfrm>
          <a:prstGeom prst="line">
            <a:avLst/>
          </a:prstGeom>
          <a:noFill/>
          <a:ln w="15240">
            <a:solidFill>
              <a:srgbClr val="DD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65836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0" b="1" dirty="0">
                <a:solidFill>
                  <a:srgbClr val="1E35B8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2027</a:t>
            </a:r>
            <a:endParaRPr lang="en-US" sz="16500" dirty="0"/>
          </a:p>
        </p:txBody>
      </p:sp>
      <p:sp>
        <p:nvSpPr>
          <p:cNvPr id="23" name="Shape 21"/>
          <p:cNvSpPr/>
          <p:nvPr/>
        </p:nvSpPr>
        <p:spPr>
          <a:xfrm>
            <a:off x="4297680" y="1078992"/>
            <a:ext cx="3749040" cy="658368"/>
          </a:xfrm>
          <a:prstGeom prst="rect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0789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2년차  2027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90288" y="1737360"/>
            <a:ext cx="27432" cy="4407408"/>
          </a:xfrm>
          <a:prstGeom prst="rect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11680"/>
            <a:ext cx="237744" cy="237744"/>
          </a:xfrm>
          <a:prstGeom prst="ellipse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9019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정기권 고도화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80560" y="2816352"/>
            <a:ext cx="237744" cy="237744"/>
          </a:xfrm>
          <a:prstGeom prst="ellipse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70662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250개사 달성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80560" y="3621024"/>
            <a:ext cx="237744" cy="237744"/>
          </a:xfrm>
          <a:prstGeom prst="ellipse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전담 인력 1명 추가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80560" y="4425696"/>
            <a:ext cx="237744" cy="237744"/>
          </a:xfrm>
          <a:prstGeom prst="ellipse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3159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대시보드 v2.0 출시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80560" y="5230368"/>
            <a:ext cx="237744" cy="237744"/>
          </a:xfrm>
          <a:prstGeom prst="ellipse">
            <a:avLst/>
          </a:prstGeom>
          <a:solidFill>
            <a:srgbClr val="1E35B8"/>
          </a:solidFill>
          <a:ln w="12700">
            <a:solidFill>
              <a:srgbClr val="1E35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51206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영업이익 1.1억 달성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1078992"/>
            <a:ext cx="0" cy="5248656"/>
          </a:xfrm>
          <a:prstGeom prst="line">
            <a:avLst/>
          </a:prstGeom>
          <a:noFill/>
          <a:ln w="15240">
            <a:solidFill>
              <a:srgbClr val="DDE3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65836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0" b="1" dirty="0">
                <a:solidFill>
                  <a:srgbClr val="F5B731">
                    <a:alpha val="11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2028</a:t>
            </a:r>
            <a:endParaRPr lang="en-US" sz="16500" dirty="0"/>
          </a:p>
        </p:txBody>
      </p:sp>
      <p:sp>
        <p:nvSpPr>
          <p:cNvPr id="38" name="Shape 36"/>
          <p:cNvSpPr/>
          <p:nvPr/>
        </p:nvSpPr>
        <p:spPr>
          <a:xfrm>
            <a:off x="8247888" y="1078992"/>
            <a:ext cx="3749040" cy="658368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10789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0E4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3년차  2028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8540496" y="1737360"/>
            <a:ext cx="27432" cy="4407408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30768" y="2011680"/>
            <a:ext cx="237744" cy="237744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14816" y="19019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 API 런칭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430768" y="2816352"/>
            <a:ext cx="237744" cy="237744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14816" y="270662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500개사 달성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430768" y="3621024"/>
            <a:ext cx="237744" cy="237744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14816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MRR 2,200만원/월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430768" y="4425696"/>
            <a:ext cx="237744" cy="237744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14816" y="43159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프랜차이즈 체인 공략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430768" y="5230368"/>
            <a:ext cx="237744" cy="237744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14816" y="51206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영업이익률 34.6% 달성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47472" y="6108192"/>
            <a:ext cx="11475720" cy="594360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" y="6108192"/>
            <a:ext cx="11475720" cy="36576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6153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이탈률 목표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0352" y="6309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≤ 2%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38144" y="6153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Basic+ 비율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438144" y="6309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85%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45936" y="6153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 비율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45936" y="6309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53728" y="6153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최종 MRR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253728" y="6309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3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2,200만/월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5A64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·  ME.PARK Ticket  ·  2026 사업계획서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1645920"/>
            <a:ext cx="8229600" cy="960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0" b="1" dirty="0">
                <a:solidFill>
                  <a:srgbClr val="1E35B8">
                    <a:alpha val="12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</a:t>
            </a:r>
            <a:endParaRPr lang="en-US" sz="6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왜 미팍티켓인가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686800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3749040" cy="45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검증된 운영 기반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14억 매출 실운영 노하우  ·  특허 5건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07008"/>
            <a:ext cx="374904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3533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완벽한 시장 타이밍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737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디지털 전환 초기  ·  경쟁자 없는 선점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207008"/>
            <a:ext cx="3749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3533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SaaS 확장성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1737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코드 없이 고객 추가  ·  100→1,000개사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11430000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11430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미팍티켓은 단순한 주차 결제 앱이 아닙니다.</a:t>
            </a:r>
            <a:endParaRPr lang="en-US" sz="17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소규모 주차장 생태계를 디지털로 전환하는 SaaS 플랫폼입니다.</a:t>
            </a:r>
            <a:endParaRPr lang="en-US" sz="17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미스터팍의 검증된 운영 기반 위에, 국내 25만 소규모 주차장 시장을 선점할 준비가 완료되었습니다.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11430000" cy="2286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617720"/>
            <a:ext cx="11539728" cy="1207008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617720"/>
            <a:ext cx="91440" cy="1207008"/>
          </a:xfrm>
          <a:prstGeom prst="rect">
            <a:avLst/>
          </a:prstGeom>
          <a:solidFill>
            <a:srgbClr val="060E48"/>
          </a:solidFill>
          <a:ln w="12700">
            <a:solidFill>
              <a:srgbClr val="060E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6634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0E4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지금 시작할 준비가 되어 있습니다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3232" y="5212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0E4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3개년 목표  :  500개사  ·  영업이익 3.5억  ·  MRR 2,200만원  ·  GMV 475억원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6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mepark1022@gmail.com  ·  www.mepark.kr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33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주식회사 미스터팍  |  Mr. Park Co., Ltd.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미팍티켓 사업계획서 2026–2028</dc:title>
  <dc:subject>PptxGenJS Presentation</dc:subject>
  <dc:creator>주식회사 미스터팍</dc:creator>
  <cp:lastModifiedBy>주식회사 미스터팍</cp:lastModifiedBy>
  <cp:revision>1</cp:revision>
  <dcterms:created xsi:type="dcterms:W3CDTF">2026-02-21T15:35:16Z</dcterms:created>
  <dcterms:modified xsi:type="dcterms:W3CDTF">2026-02-21T15:35:16Z</dcterms:modified>
</cp:coreProperties>
</file>